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97280" y="246888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Personalized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 Engine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GenAI-Powered E-commerce Intelligence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97280" y="5120640"/>
            <a:ext cx="54864" cy="10972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280160" y="50749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Noufal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md</a:t>
            </a:r>
            <a:r>
              <a:rPr lang="en-US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noufal</a:t>
            </a:r>
            <a:r>
              <a:rPr b="0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.official@gmail.com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traditional e-commerce recommendations fall short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2011680"/>
            <a:ext cx="3657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2011680"/>
            <a:ext cx="73152" cy="2560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8580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7889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Static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329184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Updated nightly in batch jobs.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 reactive to live user activity.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389120" y="2011680"/>
            <a:ext cx="3657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389120" y="2011680"/>
            <a:ext cx="73152" cy="2560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617720" y="27889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Personalization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7720" y="329184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Same suggestions shown to every user.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Ignores individual preferences.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321040" y="2011680"/>
            <a:ext cx="3657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321040" y="2011680"/>
            <a:ext cx="73152" cy="2560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54964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49640" y="27889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Black-Box Logic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549640" y="329184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Users can't tell why a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was recommended to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31520" y="5074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31520" y="5440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engagement   ·   Reduced conversions   ·   Poor customer experience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a real-time AI recommendation engine that...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103120"/>
            <a:ext cx="36576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31520" y="23957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31520" y="3154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Tracks Activity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31520" y="36118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Captures user views, searches, cart events continuously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389120" y="2103120"/>
            <a:ext cx="36576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663440" y="2377440"/>
            <a:ext cx="640080" cy="64008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63440" y="23957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63440" y="3154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Recommends Instantly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663440" y="36118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Generates personalized suggestions in real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321040" y="2103120"/>
            <a:ext cx="36576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595360" y="2377440"/>
            <a:ext cx="640080" cy="64008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595360" y="23957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595360" y="3154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Explains Why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595360" y="36118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Uses GenAI to provide human-like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4754880"/>
            <a:ext cx="91440" cy="1371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31520" y="4864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EXAMPLE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31520" y="51663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"Since you're exploring fitness gear, this lightweight jacket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complements your running routine."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 Core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Everything the system delivers, end-to-end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2011680"/>
            <a:ext cx="36576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50876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Real-Time Tracking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31520" y="30632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View, search, and add-to-cart events captured instantly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389120" y="2011680"/>
            <a:ext cx="36576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663440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4068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Hybrid Recommender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663440" y="30632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Content-based + Collaborative + Context 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321040" y="2011680"/>
            <a:ext cx="36576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595360" y="2286000"/>
            <a:ext cx="640080" cy="640080"/>
          </a:xfrm>
          <a:prstGeom prst="ellipse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595360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37260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GenAI Explanations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595360" y="30632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Gemini-powered natural language reasons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4206240"/>
            <a:ext cx="36576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508760" y="45720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 Awareness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31520" y="5257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Time-of-day and season-aware ranking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389120" y="4206240"/>
            <a:ext cx="36576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663440" y="4480560"/>
            <a:ext cx="640080" cy="64008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663440" y="4480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40680" y="45720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Tone Rewriting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63440" y="5257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Casual / Premium / Budget LLM voice options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6 layers, single responsibility each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0" y="1737360"/>
            <a:ext cx="3931920" cy="5029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114800" y="17373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 (Browser)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6080760" y="228600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" name="Google Shape;125;p7"/>
          <p:cNvSpPr/>
          <p:nvPr/>
        </p:nvSpPr>
        <p:spPr>
          <a:xfrm>
            <a:off x="4114800" y="2606040"/>
            <a:ext cx="393192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114800" y="26060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·  index.html  ·  localStorage user_id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6080760" y="315468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7"/>
          <p:cNvSpPr/>
          <p:nvPr/>
        </p:nvSpPr>
        <p:spPr>
          <a:xfrm>
            <a:off x="4114800" y="3474720"/>
            <a:ext cx="393192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114800" y="3474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 ·  main.py  ·  Pydantic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7"/>
          <p:cNvCxnSpPr/>
          <p:nvPr/>
        </p:nvCxnSpPr>
        <p:spPr>
          <a:xfrm flipH="1">
            <a:off x="1737360" y="4023360"/>
            <a:ext cx="434340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7"/>
          <p:cNvCxnSpPr/>
          <p:nvPr/>
        </p:nvCxnSpPr>
        <p:spPr>
          <a:xfrm>
            <a:off x="1737360" y="429768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7"/>
          <p:cNvSpPr/>
          <p:nvPr/>
        </p:nvSpPr>
        <p:spPr>
          <a:xfrm>
            <a:off x="457200" y="4709160"/>
            <a:ext cx="256032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4754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Recommender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5074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FAISS + Hybrid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 flipH="1">
            <a:off x="4663440" y="4023360"/>
            <a:ext cx="141732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7"/>
          <p:cNvCxnSpPr/>
          <p:nvPr/>
        </p:nvCxnSpPr>
        <p:spPr>
          <a:xfrm>
            <a:off x="4663440" y="429768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7"/>
          <p:cNvSpPr/>
          <p:nvPr/>
        </p:nvSpPr>
        <p:spPr>
          <a:xfrm>
            <a:off x="3383280" y="4709160"/>
            <a:ext cx="256032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383280" y="4754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GenAI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383280" y="5074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7"/>
          <p:cNvCxnSpPr/>
          <p:nvPr/>
        </p:nvCxnSpPr>
        <p:spPr>
          <a:xfrm>
            <a:off x="6080760" y="4023360"/>
            <a:ext cx="150876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7"/>
          <p:cNvCxnSpPr/>
          <p:nvPr/>
        </p:nvCxnSpPr>
        <p:spPr>
          <a:xfrm>
            <a:off x="7589520" y="429768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7"/>
          <p:cNvSpPr/>
          <p:nvPr/>
        </p:nvSpPr>
        <p:spPr>
          <a:xfrm>
            <a:off x="6309360" y="4709160"/>
            <a:ext cx="256032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309360" y="4754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09360" y="5074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6080760" y="4023360"/>
            <a:ext cx="443484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7"/>
          <p:cNvCxnSpPr/>
          <p:nvPr/>
        </p:nvCxnSpPr>
        <p:spPr>
          <a:xfrm>
            <a:off x="10515600" y="429768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7"/>
          <p:cNvSpPr/>
          <p:nvPr/>
        </p:nvSpPr>
        <p:spPr>
          <a:xfrm>
            <a:off x="9235440" y="4709160"/>
            <a:ext cx="256032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9235440" y="4754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235440" y="5074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 + Season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6080760" y="55321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7"/>
          <p:cNvSpPr/>
          <p:nvPr/>
        </p:nvSpPr>
        <p:spPr>
          <a:xfrm>
            <a:off x="4114800" y="5943600"/>
            <a:ext cx="3931920" cy="5029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114800" y="594360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JSON Response  →  Real-Time UI Update (no reload)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Free-tier, production-grade 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201168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" y="2011680"/>
            <a:ext cx="73152" cy="7315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31520" y="2103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FastAPI · Uvicorn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309360" y="201168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309360" y="2011680"/>
            <a:ext cx="73152" cy="7315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583680" y="2103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Pydantic v2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57200" y="288036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57200" y="2880360"/>
            <a:ext cx="73152" cy="7315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Sentence-Transformers (MiniLM-L6-v2)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309360" y="288036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309360" y="2880360"/>
            <a:ext cx="73152" cy="7315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583680" y="3246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FAISS (CPU)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374904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57200" y="3749040"/>
            <a:ext cx="73152" cy="7315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 Gemini (gemini-2.5-flash)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309360" y="374904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309360" y="3749040"/>
            <a:ext cx="73152" cy="7315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58368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4617720"/>
            <a:ext cx="54864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4617720"/>
            <a:ext cx="73152" cy="7315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73152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31520" y="4983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HTML5 · CSS3 · Vanilla JavaScript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Hybrid Recommender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Three filters merged into one ranked 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192024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57200" y="1920240"/>
            <a:ext cx="3657600" cy="914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417320" y="2286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Content-Based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417320" y="26334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FAISS Similarity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77240" y="310896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Encodes products → 384-D vectors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Returns top 5 nearest neighbors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Works for new users (cold-start)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389120" y="192024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389120" y="1920240"/>
            <a:ext cx="3657600" cy="9144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663440" y="2240280"/>
            <a:ext cx="548640" cy="548640"/>
          </a:xfrm>
          <a:prstGeom prst="ellipse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66344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349240" y="2286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Collaborative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349240" y="26334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History Overlap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709160" y="310896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Finds users with similar interests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Suggests products they viewed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Surfaces complementary 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321040" y="192024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8321040" y="1920240"/>
            <a:ext cx="3657600" cy="91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595360" y="2240280"/>
            <a:ext cx="548640" cy="5486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859536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281160" y="2286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 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281160" y="26334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Time + Season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641080" y="310896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Reranks by current season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Monsoon → Rain Jackets 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Stable sort preserves order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5440680"/>
            <a:ext cx="91440" cy="82296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31520" y="5440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Final Output: Top 4 personalized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GenAI Integration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Same recommendation, three different voices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2011680"/>
            <a:ext cx="36576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31520" y="20116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◐   CASUAL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" y="265176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"You'll love these socks — perfect comfort for your running routine!"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389120" y="2011680"/>
            <a:ext cx="36576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389120" y="2011680"/>
            <a:ext cx="3657600" cy="45720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4663440" y="20116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 PREMIUM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663440" y="265176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"Crafted for the discerning runner — refined comfort with every stride."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321040" y="2011680"/>
            <a:ext cx="36576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321040" y="2011680"/>
            <a:ext cx="3657600" cy="457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595360" y="20116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   BUDGET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595360" y="265176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"Excellent value pick — keeps your feet happy without breaking the bank."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31520" y="51206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includes: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current product · recommended product · tone · context · user preferences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generates: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1-sentence explanation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Fallback: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template-based message if Gemini is unavailable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Real-Time UI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128016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page reload · Updates in place · Native-app feel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201168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WHAT HAPPENS ON EVERY CLICK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246888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24688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960120" y="251460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Browser sends event to /track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57200" y="297180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29718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960120" y="30175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SQLite logs the event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347472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57200" y="347472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60120" y="352044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Hybrid recommender 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57200" y="397764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57200" y="397764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60120" y="402336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Gemini generates 4 explanations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57200" y="448056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57200" y="448056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960120" y="452628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JSON returns to 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57200" y="498348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457200" y="49834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60120" y="502920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JavaScript updates DOM in place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57200" y="5486400"/>
            <a:ext cx="365700" cy="365700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57200" y="54864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60120" y="55321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URL never changes · No reload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Multi-Day Persistence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system remembers users across browser sessions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CAPSTONE SCENARIO — 3 DAYS, 1 USER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2423160"/>
            <a:ext cx="36576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57200" y="2423160"/>
            <a:ext cx="3657600" cy="4572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57200" y="2423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731520" y="3063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Search "boots"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Clicked: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Pro Hiking Boots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2"/>
          <p:cNvCxnSpPr/>
          <p:nvPr/>
        </p:nvCxnSpPr>
        <p:spPr>
          <a:xfrm>
            <a:off x="4114800" y="34747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2"/>
          <p:cNvSpPr/>
          <p:nvPr/>
        </p:nvSpPr>
        <p:spPr>
          <a:xfrm>
            <a:off x="4389120" y="2423160"/>
            <a:ext cx="36576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389120" y="2423160"/>
            <a:ext cx="3657600" cy="45720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389120" y="2423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TUESDAY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663440" y="3063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Search "socks"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663440" y="3520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Clicked: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663440" y="3794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Hiking Socks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2"/>
          <p:cNvCxnSpPr/>
          <p:nvPr/>
        </p:nvCxnSpPr>
        <p:spPr>
          <a:xfrm>
            <a:off x="8046720" y="34747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12"/>
          <p:cNvSpPr/>
          <p:nvPr/>
        </p:nvSpPr>
        <p:spPr>
          <a:xfrm>
            <a:off x="8321040" y="2423160"/>
            <a:ext cx="365760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8321040" y="2423160"/>
            <a:ext cx="3657600" cy="457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321040" y="2423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WEDNESDAY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595360" y="3063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View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595360" y="3520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Clicked: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595360" y="3794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Rain Jacket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731520" y="49560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31520" y="525780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Browser: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stable user_id stored in localStorage (survives restarts)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Server: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event persisted to SQLite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Verify: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/history/{user_id} — full event log with timestamps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 Awareness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Recommendations that fit time and season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1965960"/>
            <a:ext cx="521208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57200" y="1965960"/>
            <a:ext cx="5212080" cy="457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457200" y="19659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SYSTEM DETECTS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31520" y="2606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Time of 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731520" y="2971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morning  ·  afternoon  ·  evening  ·  night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3"/>
          <p:cNvCxnSpPr/>
          <p:nvPr/>
        </p:nvCxnSpPr>
        <p:spPr>
          <a:xfrm>
            <a:off x="731520" y="352044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3"/>
          <p:cNvSpPr/>
          <p:nvPr/>
        </p:nvSpPr>
        <p:spPr>
          <a:xfrm>
            <a:off x="731520" y="3703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Season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31520" y="4069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winter  ·  summer  ·  monsoon  ·  autumn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3"/>
          <p:cNvCxnSpPr/>
          <p:nvPr/>
        </p:nvCxnSpPr>
        <p:spPr>
          <a:xfrm>
            <a:off x="731520" y="461772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3"/>
          <p:cNvSpPr/>
          <p:nvPr/>
        </p:nvSpPr>
        <p:spPr>
          <a:xfrm>
            <a:off x="731520" y="4800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Effect on LLM Prompts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31520" y="51663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"It is evening during monsoon season..."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31520" y="57150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Gemini generates more relevant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035040" y="1965960"/>
            <a:ext cx="566928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035040" y="1965960"/>
            <a:ext cx="5669280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035040" y="196596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BOOSTED PRODUCTS BY SEASON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263640" y="2606040"/>
            <a:ext cx="1554480" cy="54864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263640" y="26060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863840" y="260604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8229600" y="26060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Thermal Base Layer · Sleeping Bag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263640" y="3429000"/>
            <a:ext cx="1554480" cy="548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263640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7863840" y="342900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229600" y="34290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Insulated Water Bottle · Trail Running Shoes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263640" y="4251960"/>
            <a:ext cx="1554480" cy="548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6263640" y="425196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Monsoon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7863840" y="425196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8229600" y="42519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Rain Jacket · Pro Hiking Boots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263640" y="5074920"/>
            <a:ext cx="1554480" cy="5486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6263640" y="50749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863840" y="507492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8229600" y="5074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Camping Backpack · Fitness Tracker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Recommender · Capstone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1097280" y="20116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Questions, comments, and feedback are welcome.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097280" y="4389120"/>
            <a:ext cx="54864" cy="14630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1280160" y="44348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Noufal 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md</a:t>
            </a:r>
            <a:r>
              <a:rPr lang="en-US" sz="15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noufal</a:t>
            </a:r>
            <a:r>
              <a:rPr b="0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.official@gmail.com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GenAI Recommendation Engine · Capstone Project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Hybrid Recommender  ·  GenAI Explanations  ·  Multi-Day Memory  ·  Real-Time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